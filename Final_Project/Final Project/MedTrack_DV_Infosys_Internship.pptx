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+mn-lt"/>
              </a:rPr>
              <a:t>Efficiency score vs bed utilization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Efficiency score</c:v>
                </c:pt>
              </c:strCache>
            </c:strRef>
          </c:tx>
          <c:spPr>
            <a:solidFill>
              <a:srgbClr val="3DB8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Emergency</c:v>
                  </c:pt>
                  <c:pt idx="1">
                    <c:v>General Med.</c:v>
                  </c:pt>
                  <c:pt idx="2">
                    <c:v>Pediatrics</c:v>
                  </c:pt>
                  <c:pt idx="3">
                    <c:v>Surgery</c:v>
                  </c:pt>
                  <c:pt idx="4">
                    <c:v>Cardiology</c:v>
                  </c:pt>
                  <c:pt idx="5">
                    <c:v>Orthopedics</c:v>
                  </c:pt>
                  <c:pt idx="6">
                    <c:v>ICU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84</c:v>
                </c:pt>
                <c:pt idx="1">
                  <c:v>82</c:v>
                </c:pt>
                <c:pt idx="2">
                  <c:v>82</c:v>
                </c:pt>
                <c:pt idx="3">
                  <c:v>78</c:v>
                </c:pt>
                <c:pt idx="4">
                  <c:v>76</c:v>
                </c:pt>
                <c:pt idx="5">
                  <c:v>74</c:v>
                </c:pt>
                <c:pt idx="6">
                  <c:v>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Bed utilization</c:v>
                </c:pt>
              </c:strCache>
            </c:strRef>
          </c:tx>
          <c:spPr>
            <a:solidFill>
              <a:srgbClr val="7C6C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Emergency</c:v>
                  </c:pt>
                  <c:pt idx="1">
                    <c:v>General Med.</c:v>
                  </c:pt>
                  <c:pt idx="2">
                    <c:v>Pediatrics</c:v>
                  </c:pt>
                  <c:pt idx="3">
                    <c:v>Surgery</c:v>
                  </c:pt>
                  <c:pt idx="4">
                    <c:v>Cardiology</c:v>
                  </c:pt>
                  <c:pt idx="5">
                    <c:v>Orthopedics</c:v>
                  </c:pt>
                  <c:pt idx="6">
                    <c:v>ICU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80</c:v>
                </c:pt>
                <c:pt idx="1">
                  <c:v>90</c:v>
                </c:pt>
                <c:pt idx="2">
                  <c:v>80</c:v>
                </c:pt>
                <c:pt idx="3">
                  <c:v>85</c:v>
                </c:pt>
                <c:pt idx="4">
                  <c:v>86</c:v>
                </c:pt>
                <c:pt idx="5">
                  <c:v>80</c:v>
                </c:pt>
                <c:pt idx="6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4B4E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3A3A8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4B4E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B4B4E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+mn-lt"/>
              </a:rPr>
              <a:t>Average length of stay (days)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length of stay (days)</c:v>
                </c:pt>
              </c:strCache>
            </c:strRef>
          </c:tx>
          <c:spPr>
            <a:solidFill>
              <a:srgbClr val="F5A5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Emergency</c:v>
                  </c:pt>
                  <c:pt idx="1">
                    <c:v>General Med.</c:v>
                  </c:pt>
                  <c:pt idx="2">
                    <c:v>Pediatrics</c:v>
                  </c:pt>
                  <c:pt idx="3">
                    <c:v>Surgery</c:v>
                  </c:pt>
                  <c:pt idx="4">
                    <c:v>Cardiology</c:v>
                  </c:pt>
                  <c:pt idx="5">
                    <c:v>Orthopedics</c:v>
                  </c:pt>
                  <c:pt idx="6">
                    <c:v>ICU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2.3</c:v>
                </c:pt>
                <c:pt idx="1">
                  <c:v>4.1</c:v>
                </c:pt>
                <c:pt idx="2">
                  <c:v>3.2</c:v>
                </c:pt>
                <c:pt idx="3">
                  <c:v>5.1</c:v>
                </c:pt>
                <c:pt idx="4">
                  <c:v>5.7</c:v>
                </c:pt>
                <c:pt idx="5">
                  <c:v>6.1</c:v>
                </c:pt>
                <c:pt idx="6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4B4E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6350" cap="flat">
              <a:solidFill>
                <a:srgbClr val="3A3A8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4B4E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50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1234440"/>
            <a:ext cx="2286000" cy="2286000"/>
          </a:xfrm>
          <a:prstGeom prst="rect">
            <a:avLst>
              <a:gd name="adj" fmla="val 12000"/>
            </a:avLst>
          </a:prstGeom>
          <a:solidFill>
            <a:srgbClr val="7C6CF0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1600200"/>
            <a:ext cx="457200" cy="1554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2148840"/>
            <a:ext cx="1554480" cy="4572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21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87552"/>
            <a:ext cx="822960" cy="45720"/>
          </a:xfrm>
          <a:prstGeom prst="rect">
            <a:avLst/>
          </a:prstGeom>
          <a:solidFill>
            <a:srgbClr val="7C6C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C0"/>
                </a:solidFill>
              </a:rPr>
              <a:t>MedTrack DV  |  Infosys Springboard Virtual Internship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ashank096/Infosys-Springboard-MedTrack-DV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MedTrack DV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4B4E6"/>
                </a:solidFill>
              </a:rPr>
              <a:t>HOSPITAL OPERATIONS &amp; PATIENT ANALYTICS DASHBOARD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Infosys Springboard Virtual Internship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B4E6"/>
                </a:solidFill>
              </a:rPr>
              <a:t>Presented by: [Your Name]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B4E6"/>
                </a:solidFill>
              </a:rPr>
              <a:t>Problem Statement &amp; Objectives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The challenge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4E4F7"/>
                </a:solidFill>
              </a:rPr>
              <a:t>Hospitals generate large volumes of admission, bed and staffing data, but it is scattered across reports and hard to act on. Managers need a single, interactive view of patient flow, capacity and department performance to make timely decisions.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49040" y="123444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1D1D55"/>
          </a:solidFill>
          <a:ln w="12700">
            <a:solidFill>
              <a:srgbClr val="3A3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86200" y="1371600"/>
            <a:ext cx="310896" cy="310896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88620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279392" y="13441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Monitor Hospital KPIs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886200" y="17830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4F7"/>
                </a:solidFill>
              </a:rPr>
              <a:t>Track admissions, occupancy, length of stay and readmission rate at a glance.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23444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1D1D55"/>
          </a:solidFill>
          <a:ln w="12700">
            <a:solidFill>
              <a:srgbClr val="3A3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371600"/>
            <a:ext cx="310896" cy="310896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793992" y="13441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Analyse Patient Flow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17830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4F7"/>
                </a:solidFill>
              </a:rPr>
              <a:t>Understand admissions by month, weekday and admission type.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749040" y="278892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1D1D55"/>
          </a:solidFill>
          <a:ln w="12700">
            <a:solidFill>
              <a:srgbClr val="3A3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86200" y="2926080"/>
            <a:ext cx="310896" cy="310896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86200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279392" y="2898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Compare Departments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886200" y="33375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4F7"/>
                </a:solidFill>
              </a:rPr>
              <a:t>Benchmark admissions, efficiency, stay duration and bed use.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278892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1D1D55"/>
          </a:solidFill>
          <a:ln w="12700">
            <a:solidFill>
              <a:srgbClr val="3A3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926080"/>
            <a:ext cx="310896" cy="310896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793992" y="2898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Optimise Resources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3375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4F7"/>
                </a:solidFill>
              </a:rPr>
              <a:t>Spot bed, staff and refusal pressure to plan capacity.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B4E6"/>
                </a:solidFill>
              </a:rPr>
              <a:t>Solution Overview: A 4-Page Power BI Dashboard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1D1D55"/>
          </a:solidFill>
          <a:ln w="12700">
            <a:solidFill>
              <a:srgbClr val="3A3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417320"/>
            <a:ext cx="310896" cy="310896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13898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Hospital Overview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2880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4F7"/>
                </a:solidFill>
              </a:rPr>
              <a:t>Headline KPIs and admission mix by type, department and hospital.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542032" y="128016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1D1D55"/>
          </a:solidFill>
          <a:ln w="12700">
            <a:solidFill>
              <a:srgbClr val="3A3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79192" y="1417320"/>
            <a:ext cx="310896" cy="310896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9192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072384" y="13898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Patient Flow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679192" y="182880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4F7"/>
                </a:solidFill>
              </a:rPr>
              <a:t>Admissions by month and week, admission type, average stay.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26864" y="128016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1D1D55"/>
          </a:solidFill>
          <a:ln w="12700">
            <a:solidFill>
              <a:srgbClr val="3A3A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64024" y="1417320"/>
            <a:ext cx="310896" cy="310896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64024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157216" y="13898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Department Analytics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764024" y="182880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4F7"/>
                </a:solidFill>
              </a:rPr>
              <a:t>Admissions, efficiency score, stay and bed use per department.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11696" y="128016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1D1D55"/>
          </a:solidFill>
          <a:ln w="12700">
            <a:solidFill>
              <a:srgbClr val="3A3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48856" y="1417320"/>
            <a:ext cx="310896" cy="310896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48856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242048" y="13898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Resource Utilization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48856" y="182880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4F7"/>
                </a:solidFill>
              </a:rPr>
              <a:t>Bed and staff utilisation, beds available and patients refused.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solidFill>
            <a:srgbClr val="1D1D55"/>
          </a:solidFill>
          <a:ln w="9525">
            <a:solidFill>
              <a:srgbClr val="3A3A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24528"/>
            <a:ext cx="64008" cy="457200"/>
          </a:xfrm>
          <a:prstGeom prst="rect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2245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Built in Power BI  |  Interactive slicers (admission date, department)  |  Page navigation buttons  |  Source files on GitHub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B4E6"/>
                </a:solidFill>
              </a:rPr>
              <a:t>Hospital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280160" cy="713232"/>
          </a:xfrm>
          <a:prstGeom prst="roundRect">
            <a:avLst>
              <a:gd name="adj" fmla="val 10256"/>
            </a:avLst>
          </a:prstGeom>
          <a:solidFill>
            <a:srgbClr val="1D1D55"/>
          </a:solidFill>
          <a:ln w="12700">
            <a:solidFill>
              <a:srgbClr val="3A3A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118872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4E6"/>
                </a:solidFill>
              </a:rPr>
              <a:t>Total Admissions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447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47088" y="1143000"/>
            <a:ext cx="1280160" cy="713232"/>
          </a:xfrm>
          <a:prstGeom prst="roundRect">
            <a:avLst>
              <a:gd name="adj" fmla="val 10256"/>
            </a:avLst>
          </a:prstGeom>
          <a:solidFill>
            <a:srgbClr val="1D1D55"/>
          </a:solidFill>
          <a:ln w="12700">
            <a:solidFill>
              <a:srgbClr val="3A3A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20240" y="118872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4E6"/>
                </a:solidFill>
              </a:rPr>
              <a:t>Occupancy Rate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847088" y="14447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92.70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36976" y="1143000"/>
            <a:ext cx="1280160" cy="713232"/>
          </a:xfrm>
          <a:prstGeom prst="roundRect">
            <a:avLst>
              <a:gd name="adj" fmla="val 10256"/>
            </a:avLst>
          </a:prstGeom>
          <a:solidFill>
            <a:srgbClr val="1D1D55"/>
          </a:solidFill>
          <a:ln w="12700">
            <a:solidFill>
              <a:srgbClr val="3A3A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10128" y="118872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4E6"/>
                </a:solidFill>
              </a:rPr>
              <a:t>Avg Length of Stay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236976" y="14447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5.13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26864" y="1143000"/>
            <a:ext cx="1280160" cy="713232"/>
          </a:xfrm>
          <a:prstGeom prst="roundRect">
            <a:avLst>
              <a:gd name="adj" fmla="val 10256"/>
            </a:avLst>
          </a:prstGeom>
          <a:solidFill>
            <a:srgbClr val="1D1D55"/>
          </a:solidFill>
          <a:ln w="12700">
            <a:solidFill>
              <a:srgbClr val="3A3A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0016" y="118872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4E6"/>
                </a:solidFill>
              </a:rPr>
              <a:t>Readmission Rate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626864" y="14447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12.70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016752" y="1143000"/>
            <a:ext cx="1280160" cy="713232"/>
          </a:xfrm>
          <a:prstGeom prst="roundRect">
            <a:avLst>
              <a:gd name="adj" fmla="val 10256"/>
            </a:avLst>
          </a:prstGeom>
          <a:solidFill>
            <a:srgbClr val="1D1D55"/>
          </a:solidFill>
          <a:ln w="12700">
            <a:solidFill>
              <a:srgbClr val="3A3A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89904" y="118872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4E6"/>
                </a:solidFill>
              </a:rPr>
              <a:t>Bed Utilization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016752" y="14447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92.70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406640" y="1143000"/>
            <a:ext cx="1280160" cy="713232"/>
          </a:xfrm>
          <a:prstGeom prst="roundRect">
            <a:avLst>
              <a:gd name="adj" fmla="val 10256"/>
            </a:avLst>
          </a:prstGeom>
          <a:solidFill>
            <a:srgbClr val="1D1D55"/>
          </a:solidFill>
          <a:ln w="12700">
            <a:solidFill>
              <a:srgbClr val="3A3A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79792" y="118872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4E6"/>
                </a:solidFill>
              </a:rPr>
              <a:t>Discharge Count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14447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1K</a:t>
            </a:r>
            <a:endParaRPr lang="en-US" sz="2000" dirty="0"/>
          </a:p>
        </p:txBody>
      </p:sp>
      <p:pic>
        <p:nvPicPr>
          <p:cNvPr id="21" name="Image 0" descr="Hospital Overview dashboard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330" y="2011680"/>
            <a:ext cx="4400300" cy="2519172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5120640" y="2011680"/>
            <a:ext cx="3566160" cy="2519172"/>
          </a:xfrm>
          <a:prstGeom prst="roundRect">
            <a:avLst>
              <a:gd name="adj" fmla="val 3630"/>
            </a:avLst>
          </a:prstGeom>
          <a:solidFill>
            <a:srgbClr val="1D1D55"/>
          </a:solidFill>
          <a:ln w="12700">
            <a:solidFill>
              <a:srgbClr val="3A3A8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257800" y="2121408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4E4F7"/>
                </a:solidFill>
              </a:rPr>
              <a:t>Occupancy and bed utilisation both sit at 92.70, leaving very little spare capacity.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4E4F7"/>
                </a:solidFill>
              </a:rPr>
              <a:t>Average stay is 5.13 days; readmission rate is 12.70.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4E4F7"/>
                </a:solidFill>
              </a:rPr>
              <a:t>Inpatients make up the largest share of admissions.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4E4F7"/>
                </a:solidFill>
              </a:rPr>
              <a:t>Cardiology leads admissions by department (99), followed by General Medicine and Surgery (around 80).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B4E6"/>
                </a:solidFill>
              </a:rPr>
              <a:t>Patient Flow Analysis</a:t>
            </a:r>
            <a:endParaRPr lang="en-US" sz="2600" dirty="0"/>
          </a:p>
        </p:txBody>
      </p:sp>
      <p:pic>
        <p:nvPicPr>
          <p:cNvPr id="3" name="Image 0" descr="Power BI dashboard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0035"/>
            <a:ext cx="5120640" cy="285773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60720" y="1188720"/>
            <a:ext cx="2926080" cy="2880360"/>
          </a:xfrm>
          <a:prstGeom prst="roundRect">
            <a:avLst>
              <a:gd name="adj" fmla="val 3175"/>
            </a:avLst>
          </a:prstGeom>
          <a:solidFill>
            <a:srgbClr val="1D1D55"/>
          </a:solidFill>
          <a:ln w="12700">
            <a:solidFill>
              <a:srgbClr val="3A3A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97880" y="12618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B4E6"/>
                </a:solidFill>
              </a:rPr>
              <a:t>Key Takeaways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897880" y="1627632"/>
            <a:ext cx="2697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4E4F7"/>
                </a:solidFill>
              </a:rPr>
              <a:t>Admission mix: Inpatient 587 (58.7%), Outpatient 203 (20.3%), Emergency 123 (12.3%), Day Care 87 (8.7%).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4E4F7"/>
                </a:solidFill>
              </a:rPr>
              <a:t>Saturday is the busiest day; Friday and Sunday are the quietest.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4E4F7"/>
                </a:solidFill>
              </a:rPr>
              <a:t>Monthly admissions peak in March and are lowest in February.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4E4F7"/>
                </a:solidFill>
              </a:rPr>
              <a:t>ICU has the longest stay (8.0 days); Emergency the shortest (2.3).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solidFill>
            <a:srgbClr val="1D1D55"/>
          </a:solidFill>
          <a:ln w="9525">
            <a:solidFill>
              <a:srgbClr val="3A3A8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4224528"/>
            <a:ext cx="64008" cy="457200"/>
          </a:xfrm>
          <a:prstGeom prst="rect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42245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Inpatient care drives volume, and weekday load is uneven, which makes staffing rosters worth revisiting.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B4E6"/>
                </a:solidFill>
              </a:rPr>
              <a:t>Department Analytics</a:t>
            </a:r>
            <a:endParaRPr lang="en-US" sz="2600" dirty="0"/>
          </a:p>
        </p:txBody>
      </p:sp>
      <p:pic>
        <p:nvPicPr>
          <p:cNvPr id="3" name="Image 0" descr="Power BI dashboard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68529"/>
            <a:ext cx="5120640" cy="272074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60720" y="1188720"/>
            <a:ext cx="2926080" cy="2880360"/>
          </a:xfrm>
          <a:prstGeom prst="roundRect">
            <a:avLst>
              <a:gd name="adj" fmla="val 3175"/>
            </a:avLst>
          </a:prstGeom>
          <a:solidFill>
            <a:srgbClr val="1D1D55"/>
          </a:solidFill>
          <a:ln w="12700">
            <a:solidFill>
              <a:srgbClr val="3A3A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97880" y="12618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B4E6"/>
                </a:solidFill>
              </a:rPr>
              <a:t>Key Takeaways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897880" y="1627632"/>
            <a:ext cx="2697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4E4F7"/>
                </a:solidFill>
              </a:rPr>
              <a:t>General Medicine has the most admissions (6.5K), then Surgery (5.0K) and Pediatrics (4.0K).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4E4F7"/>
                </a:solidFill>
              </a:rPr>
              <a:t>ICU has the fewest admissions (1.2K) but the longest stay (8.0 days).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4E4F7"/>
                </a:solidFill>
              </a:rPr>
              <a:t>Emergency scores highest on efficiency (84); ICU and Orthopedics score lowest (74).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4E4F7"/>
                </a:solidFill>
              </a:rPr>
              <a:t>Bed utilisation is highest in General Medicine and ICU (90).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solidFill>
            <a:srgbClr val="1D1D55"/>
          </a:solidFill>
          <a:ln w="9525">
            <a:solidFill>
              <a:srgbClr val="3A3A8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4224528"/>
            <a:ext cx="64008" cy="457200"/>
          </a:xfrm>
          <a:prstGeom prst="rect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42245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Efficiency does not simply follow volume: the busiest units are not always the most efficient.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B4E6"/>
                </a:solidFill>
              </a:rPr>
              <a:t>Resource Utilization</a:t>
            </a:r>
            <a:endParaRPr lang="en-US" sz="2600" dirty="0"/>
          </a:p>
        </p:txBody>
      </p:sp>
      <p:pic>
        <p:nvPicPr>
          <p:cNvPr id="3" name="Image 0" descr="Power BI dashboard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234" y="1188720"/>
            <a:ext cx="4930573" cy="2880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60720" y="1188720"/>
            <a:ext cx="2926080" cy="2880360"/>
          </a:xfrm>
          <a:prstGeom prst="roundRect">
            <a:avLst>
              <a:gd name="adj" fmla="val 3175"/>
            </a:avLst>
          </a:prstGeom>
          <a:solidFill>
            <a:srgbClr val="1D1D55"/>
          </a:solidFill>
          <a:ln w="12700">
            <a:solidFill>
              <a:srgbClr val="3A3A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97880" y="12618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B4E6"/>
                </a:solidFill>
              </a:rPr>
              <a:t>Key Takeaways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897880" y="1627632"/>
            <a:ext cx="2697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4E4F7"/>
                </a:solidFill>
              </a:rPr>
              <a:t>Bed utilisation rate: Emergency 5.2K, General Medicine 5.1K, Surgery 4.6K, ICU 4.4K.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4E4F7"/>
                </a:solidFill>
              </a:rPr>
              <a:t>Emergency has by far the most patients refused (5.0K), then General Medicine (1.9K).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4E4F7"/>
                </a:solidFill>
              </a:rPr>
              <a:t>Staff utilisation is similar across units (about 3.1K each).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4E4F7"/>
                </a:solidFill>
              </a:rPr>
              <a:t>Occupied beds far exceed free beds in every unit.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solidFill>
            <a:srgbClr val="1D1D55"/>
          </a:solidFill>
          <a:ln w="9525">
            <a:solidFill>
              <a:srgbClr val="3A3A8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4224528"/>
            <a:ext cx="64008" cy="457200"/>
          </a:xfrm>
          <a:prstGeom prst="rect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42245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Emergency is the pressure point: highest bed demand and the most patients turned away.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B4E6"/>
                </a:solidFill>
              </a:rPr>
              <a:t>Department Performance at a Glance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5394960" y="1188720"/>
          <a:ext cx="32918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solidFill>
            <a:srgbClr val="1D1D55"/>
          </a:solidFill>
          <a:ln w="9525">
            <a:solidFill>
              <a:srgbClr val="3A3A8A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457200" y="4224528"/>
            <a:ext cx="64008" cy="457200"/>
          </a:xfrm>
          <a:prstGeom prst="rect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0080" y="42245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ICU and General Medicine run at 90 bed utilisation, while ICU's long stays (8.0 days) keep its beds occupied longest.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B4E6"/>
                </a:solidFill>
              </a:rPr>
              <a:t>Key Insights &amp; 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1D1D55"/>
          </a:solidFill>
          <a:ln w="12700">
            <a:solidFill>
              <a:srgbClr val="3A3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71600"/>
            <a:ext cx="310896" cy="310896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13441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Capacity is the bottleneck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830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E4F7"/>
                </a:solidFill>
              </a:rPr>
              <a:t>Occupancy of 92.70 leaves little buffer. Plan surge capacity and faster discharge workflows.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17720" y="123444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1D1D55"/>
          </a:solidFill>
          <a:ln w="12700">
            <a:solidFill>
              <a:srgbClr val="3A3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371600"/>
            <a:ext cx="310896" cy="310896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148072" y="13441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Reduce Emergency refusals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7830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E4F7"/>
                </a:solidFill>
              </a:rPr>
              <a:t>5.0K patients refused is the highest of any unit. Add triage and overflow-bed planning.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1D1D55"/>
          </a:solidFill>
          <a:ln w="12700">
            <a:solidFill>
              <a:srgbClr val="3A3A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017520"/>
            <a:ext cx="310896" cy="310896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" y="29900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Balance weekly load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4290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E4F7"/>
                </a:solidFill>
              </a:rPr>
              <a:t>Saturday peaks while Friday and Sunday are quiet. Align staff rosters to demand.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617720" y="288036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1D1D55"/>
          </a:solidFill>
          <a:ln w="12700">
            <a:solidFill>
              <a:srgbClr val="3A3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3017520"/>
            <a:ext cx="310896" cy="310896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148072" y="29900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Review readmissions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4290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E4F7"/>
                </a:solidFill>
              </a:rPr>
              <a:t>A 12.70 readmission rate suggests better discharge follow-up, especially in long-stay units.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B4E6"/>
                </a:solidFill>
              </a:rPr>
              <a:t>Conclusion &amp; Future Scope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1D1D55"/>
          </a:solidFill>
          <a:ln w="12700">
            <a:solidFill>
              <a:srgbClr val="3A3A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B4E6"/>
                </a:solidFill>
              </a:rPr>
              <a:t>What we achieved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E4E4F7"/>
                </a:solidFill>
              </a:rPr>
              <a:t>Built an interactive, four-page Power BI dashboard for hospital operations.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E4E4F7"/>
                </a:solidFill>
              </a:rPr>
              <a:t>Unified KPIs, patient flow, department and resource views in one place.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E4E4F7"/>
                </a:solidFill>
              </a:rPr>
              <a:t>Surfaced capacity pressure, Emergency refusals and uneven weekly load.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E4E4F7"/>
                </a:solidFill>
              </a:rPr>
              <a:t>Delivered insights that support data-driven decisions.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63440" y="123444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1D1D55"/>
          </a:solidFill>
          <a:ln w="12700">
            <a:solidFill>
              <a:srgbClr val="3A3A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B4E6"/>
                </a:solidFill>
              </a:rPr>
              <a:t>Future scope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3736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E4E4F7"/>
                </a:solidFill>
              </a:rPr>
              <a:t>Forecast admissions and bed demand with predictive models.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E4E4F7"/>
                </a:solidFill>
              </a:rPr>
              <a:t>Connect live hospital data for real-time refresh.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E4E4F7"/>
                </a:solidFill>
              </a:rPr>
              <a:t>Add cost, revenue and patient-outcome analysis.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E4E4F7"/>
                </a:solidFill>
              </a:rPr>
              <a:t>Role-based views for administrators and department heads.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4B4E6"/>
                </a:solidFill>
              </a:rPr>
              <a:t>MedTrack DV  |  Infosys Springboard Virtual Internship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290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B4E6"/>
                </a:solidFill>
              </a:rPr>
              <a:t>GitHub: </a:t>
            </a:r>
            <a:pPr indent="0" marL="0">
              <a:buNone/>
            </a:pPr>
            <a:r>
              <a:rPr lang="en-US" sz="1200" u="sng" dirty="0">
                <a:solidFill>
                  <a:srgbClr val="7FB2F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github.com/Sashank096/Infosys-Springboard-MedTrack-DV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Track">
  <a:themeElements>
    <a:clrScheme name="MedTrack">
      <a:dk1>
        <a:srgbClr val="05052E"/>
      </a:dk1>
      <a:lt1>
        <a:srgbClr val="FFFFFF"/>
      </a:lt1>
      <a:dk2>
        <a:srgbClr val="12123F"/>
      </a:dk2>
      <a:lt2>
        <a:srgbClr val="B4B4E6"/>
      </a:lt2>
      <a:accent1>
        <a:srgbClr val="7C6CF0"/>
      </a:accent1>
      <a:accent2>
        <a:srgbClr val="3DB8FF"/>
      </a:accent2>
      <a:accent3>
        <a:srgbClr val="F5A524"/>
      </a:accent3>
      <a:accent4>
        <a:srgbClr val="34D399"/>
      </a:accent4>
      <a:accent5>
        <a:srgbClr val="F472B6"/>
      </a:accent5>
      <a:accent6>
        <a:srgbClr val="FB7185"/>
      </a:accent6>
      <a:hlink>
        <a:srgbClr val="7FB2FF"/>
      </a:hlink>
      <a:folHlink>
        <a:srgbClr val="B4B4E6"/>
      </a:folHlink>
    </a:clrScheme>
    <a:fontScheme name="MedTrac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MedTrack DV - Hospital Operations &amp; Patient Analytics Dashboard</dc:title>
  <dc:subject>PptxGenJS Presentation</dc:subject>
  <dc:creator>PptxGenJS</dc:creator>
  <cp:lastModifiedBy>PptxGenJS</cp:lastModifiedBy>
  <cp:revision>1</cp:revision>
  <dcterms:created xsi:type="dcterms:W3CDTF">2026-10-03T13:10:02Z</dcterms:created>
  <dcterms:modified xsi:type="dcterms:W3CDTF">2026-10-03T13:10:02Z</dcterms:modified>
</cp:coreProperties>
</file>